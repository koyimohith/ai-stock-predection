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9CD49B-B340-4210-A87A-4E2DF70FA5C2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57600C-7F13-4A32-8507-1A9C6A042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459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BE2A4-4ABD-EF32-BE19-ECB80E6220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3DF004-F704-AF7D-BD20-A1E1E0BE67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F3CB2-23E4-3DFD-3694-A10C38DDC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AA65-0DC2-4E1B-B26D-68F21E35E8C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8F91E-CDCC-9F4F-07C0-80B57CE8C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5B0A2-7897-AD72-76DA-8075C7584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5A930-E8D2-4A8B-BE97-F16E9F7A2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110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0B985-F64A-0628-6B5E-1DC5E6168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DC78B-F46D-E36C-F978-C11FD4B55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9D05A-5154-4C23-D8EA-090CEF222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AA65-0DC2-4E1B-B26D-68F21E35E8C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218F4-EEF4-5897-D23B-8B49C74B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A4463-FF63-FC98-3E52-461DA579B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5A930-E8D2-4A8B-BE97-F16E9F7A2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595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81B95-8A71-F850-492D-E07FE9155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9A081-BDA3-1A38-DF46-F5FF96E2E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F5E46-C952-9F63-7C35-DAFA00BEF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AA65-0DC2-4E1B-B26D-68F21E35E8C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B888B-3E7B-FDF1-8AAB-66FA2935F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C4C5C-8A3C-D118-6CE5-87A612B35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5A930-E8D2-4A8B-BE97-F16E9F7A2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970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EC0F2-8E0A-1E6B-36D5-02F4B3D41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C813D-3D6C-2446-FF8B-7C6BC7B937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6885FA-D00E-6E6F-FB7F-8DCD0F4DC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1047F-C748-63AA-E959-1C5102C57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AA65-0DC2-4E1B-B26D-68F21E35E8C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5BE863-1C58-6481-BA6A-2AAB96573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A3013-28A6-59ED-B603-3F61AAC57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5A930-E8D2-4A8B-BE97-F16E9F7A2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123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1CF82-C4E3-76D9-EFA7-1B56F1ED2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B78F3-9950-C931-7B40-D0C9B29C1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160ACA-1FCA-F08E-0D27-3D2AD5FB62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DB8A6F-B68B-90D1-08AF-B6D33A1E65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33303F-18D9-C909-B895-94B10836A1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2632A7-B5EB-FEBD-61BE-C61DA6CA6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AA65-0DC2-4E1B-B26D-68F21E35E8C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F7406D-EE24-BD9E-84E5-8C80294E8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57979F-4FB2-1CCC-BC65-93D813653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5A930-E8D2-4A8B-BE97-F16E9F7A2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604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3A85C-E549-EF05-17C1-34C764BB2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8005CC-8C3E-CD06-035B-B1410F727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AA65-0DC2-4E1B-B26D-68F21E35E8C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896B96-45EE-F902-BF0C-E65FDF3CE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50DB8F-1F8D-3236-EB48-BE807853A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5A930-E8D2-4A8B-BE97-F16E9F7A2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486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C845A7-9BFD-E4EE-D039-ACC9A7986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AA65-0DC2-4E1B-B26D-68F21E35E8C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849301-725A-A4AB-2BBB-82B139541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3C5DE-E9F1-75D5-6821-E8B2BB5F0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5A930-E8D2-4A8B-BE97-F16E9F7A2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164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176A0-3FD7-2D28-6FCC-C05C527BC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B05A4-AFEA-650C-1B33-4C19A61DA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0CFF01-742E-F686-DF67-11F1E0EF38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2928AF-A8FA-E38F-BC2F-B6D105105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AA65-0DC2-4E1B-B26D-68F21E35E8C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B6DBD1-85B0-6D1F-40D9-017F3E348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D8EF7E-9A54-38B0-C2B5-5A86A0155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5A930-E8D2-4A8B-BE97-F16E9F7A2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972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50213-EECA-4C0C-C057-099D36B1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DB4497-7367-9817-BB6D-4AD994CBB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87CCE0-848D-9579-AC23-1C472B349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C57BE-F82D-28C7-1159-BB153069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AA65-0DC2-4E1B-B26D-68F21E35E8C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14A82-0367-2FAE-EA24-F931BB4A6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423C5-8971-32B3-6D56-D985B30A9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5A930-E8D2-4A8B-BE97-F16E9F7A2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507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19901-7806-5B28-F7E9-82B45891F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E5E0E2-2F41-39BA-0B9E-7F916FAE8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EB0B5-E076-B416-91CF-1A6020957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AA65-0DC2-4E1B-B26D-68F21E35E8C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EC104-B84F-8BBE-C4B9-591E147A3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FD1D9-C189-0368-8051-A9CB217F3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5A930-E8D2-4A8B-BE97-F16E9F7A2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536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44FE23-2C13-D936-0B4C-2DD27AAC48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79042-20CB-A94B-AEA9-EE260B6A6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E757A-126B-C387-16EE-C2C98AF2A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AA65-0DC2-4E1B-B26D-68F21E35E8C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DCC1D-C5D2-9DBC-898A-E41F90AE8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B1C2E-4987-B7AB-3498-55642AC55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5A930-E8D2-4A8B-BE97-F16E9F7A2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823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9B167-3450-7DD2-DA43-1983BA048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3CA6F-5FF0-6BBC-BDB7-092F16AB0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6257C-B474-8322-A14A-4BA0554A57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BAA65-0DC2-4E1B-B26D-68F21E35E8C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0A6E8-ECB5-B300-D7F2-370C879B4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DF616-4F9D-EDA2-10BF-245797EC02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5A930-E8D2-4A8B-BE97-F16E9F7A2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977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0;p13">
            <a:extLst>
              <a:ext uri="{FF2B5EF4-FFF2-40B4-BE49-F238E27FC236}">
                <a16:creationId xmlns:a16="http://schemas.microsoft.com/office/drawing/2014/main" id="{637C6D33-9AF6-3A01-0E1B-C0D7F3BD43D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87599" y="626297"/>
            <a:ext cx="5114717" cy="91374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88;p13">
            <a:extLst>
              <a:ext uri="{FF2B5EF4-FFF2-40B4-BE49-F238E27FC236}">
                <a16:creationId xmlns:a16="http://schemas.microsoft.com/office/drawing/2014/main" id="{2815E6EF-0063-E5D6-2FFC-7FC5C563EFC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714815" y="1692442"/>
            <a:ext cx="941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dirty="0">
              <a:highlight>
                <a:srgbClr val="F7F8FA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dirty="0">
              <a:highlight>
                <a:srgbClr val="F7F8FA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lvl="0" algn="l">
              <a:lnSpc>
                <a:spcPct val="120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sz="2400" b="1" dirty="0">
                <a:highlight>
                  <a:srgbClr val="F7F8FA"/>
                </a:highlight>
                <a:latin typeface="Montserrat"/>
                <a:ea typeface="Montserrat"/>
                <a:cs typeface="Montserrat"/>
                <a:sym typeface="Montserrat"/>
              </a:rPr>
              <a:t>      </a:t>
            </a:r>
            <a:r>
              <a:rPr lang="en-IN" sz="2400" b="1" dirty="0">
                <a:highlight>
                  <a:srgbClr val="F7F8FA"/>
                </a:highlight>
                <a:latin typeface="Montserrat"/>
                <a:ea typeface="Montserrat"/>
                <a:cs typeface="Montserrat"/>
                <a:sym typeface="Montserrat"/>
              </a:rPr>
              <a:t> ADA23CY202– MACHINE LEARNING  </a:t>
            </a:r>
            <a:r>
              <a:rPr lang="en-US" sz="2400" b="1" dirty="0">
                <a:highlight>
                  <a:srgbClr val="F7F8FA"/>
                </a:highlight>
                <a:latin typeface="Montserrat"/>
                <a:ea typeface="Montserrat"/>
                <a:cs typeface="Montserrat"/>
                <a:sym typeface="Montserrat"/>
              </a:rPr>
              <a:t>LABORATORY </a:t>
            </a:r>
            <a:endParaRPr sz="2400" b="1" dirty="0">
              <a:highlight>
                <a:srgbClr val="F7F8FA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 b="1" dirty="0">
              <a:highlight>
                <a:srgbClr val="F7F8FA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 sz="2700" b="1" dirty="0">
              <a:highlight>
                <a:srgbClr val="F7F8FA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92;p13">
            <a:extLst>
              <a:ext uri="{FF2B5EF4-FFF2-40B4-BE49-F238E27FC236}">
                <a16:creationId xmlns:a16="http://schemas.microsoft.com/office/drawing/2014/main" id="{D925318B-5979-7976-207C-5C75031580EE}"/>
              </a:ext>
            </a:extLst>
          </p:cNvPr>
          <p:cNvSpPr txBox="1"/>
          <p:nvPr/>
        </p:nvSpPr>
        <p:spPr>
          <a:xfrm>
            <a:off x="4063704" y="2610521"/>
            <a:ext cx="4204800" cy="4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Lab Project </a:t>
            </a:r>
            <a:endParaRPr sz="2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89;p13">
            <a:extLst>
              <a:ext uri="{FF2B5EF4-FFF2-40B4-BE49-F238E27FC236}">
                <a16:creationId xmlns:a16="http://schemas.microsoft.com/office/drawing/2014/main" id="{7DF77961-ED94-33AE-65A1-112717EDC137}"/>
              </a:ext>
            </a:extLst>
          </p:cNvPr>
          <p:cNvSpPr txBox="1"/>
          <p:nvPr/>
        </p:nvSpPr>
        <p:spPr>
          <a:xfrm>
            <a:off x="655617" y="3429000"/>
            <a:ext cx="11221500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en-IN" sz="2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Title:</a:t>
            </a:r>
            <a:r>
              <a:rPr lang="en-IN" sz="2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 STOCK </a:t>
            </a:r>
            <a:r>
              <a:rPr lang="en-US" sz="2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PREDICTION &amp; ANALYSIS </a:t>
            </a:r>
            <a:endParaRPr sz="2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5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r>
              <a:rPr lang="en-IN" sz="25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IN" sz="2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Mohith Koyi  -  E0324076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5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Kishore .M   - E0324081     </a:t>
            </a:r>
            <a:endParaRPr sz="250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50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9DD672CA-B100-F923-A930-F67EF69AE5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897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820E4C-1271-D0B4-3D2D-11528D67CD68}"/>
              </a:ext>
            </a:extLst>
          </p:cNvPr>
          <p:cNvSpPr txBox="1"/>
          <p:nvPr/>
        </p:nvSpPr>
        <p:spPr>
          <a:xfrm>
            <a:off x="1133856" y="827452"/>
            <a:ext cx="27762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ABSTRACT </a:t>
            </a:r>
            <a:endParaRPr lang="en-IN" sz="3200" b="1" dirty="0"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627EBA-F236-E416-B75F-10703C1928FA}"/>
              </a:ext>
            </a:extLst>
          </p:cNvPr>
          <p:cNvSpPr txBox="1"/>
          <p:nvPr/>
        </p:nvSpPr>
        <p:spPr>
          <a:xfrm>
            <a:off x="996696" y="1720840"/>
            <a:ext cx="90891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 </a:t>
            </a:r>
            <a:r>
              <a:rPr lang="en-US" b="1" dirty="0"/>
              <a:t>NIFTY AI Stock Prediction Dashboard</a:t>
            </a:r>
            <a:r>
              <a:rPr lang="en-US" dirty="0"/>
              <a:t> is a machine learning-based financial forecasting system designed to predict stock trends using historical and real-time market data. It combines offline SQLite historical records with live </a:t>
            </a:r>
            <a:r>
              <a:rPr lang="en-US" dirty="0" err="1"/>
              <a:t>yfinance</a:t>
            </a:r>
            <a:r>
              <a:rPr lang="en-US" dirty="0"/>
              <a:t> tick data to ensure continuous operation even during network failure, while technical indicators such as RSI and MACD help analyze market momentum. The system uses advanced AI models including </a:t>
            </a:r>
            <a:r>
              <a:rPr lang="en-US" b="1" dirty="0"/>
              <a:t>LSTM, GRU, ARIMA, and Prophet</a:t>
            </a:r>
            <a:r>
              <a:rPr lang="en-US" dirty="0"/>
              <a:t> to learn time-series patterns and generate future price predictions. To improve adaptability across different tickers, it applies dynamic scaling with temporary </a:t>
            </a:r>
            <a:r>
              <a:rPr lang="en-US" dirty="0" err="1"/>
              <a:t>MinMaxScalers</a:t>
            </a:r>
            <a:r>
              <a:rPr lang="en-US" dirty="0"/>
              <a:t> and supports an ensemble approach for more reliable forecast </a:t>
            </a:r>
            <a:r>
              <a:rPr lang="en-US" dirty="0" err="1"/>
              <a:t>results.The</a:t>
            </a:r>
            <a:r>
              <a:rPr lang="en-US" dirty="0"/>
              <a:t> project is deployed as an interactive dashboard using </a:t>
            </a:r>
            <a:r>
              <a:rPr lang="en-US" b="1" dirty="0" err="1"/>
              <a:t>Streamlit</a:t>
            </a:r>
            <a:r>
              <a:rPr lang="en-US" dirty="0"/>
              <a:t> and also supports a </a:t>
            </a:r>
            <a:r>
              <a:rPr lang="en-US" b="1" dirty="0"/>
              <a:t>Flask-based web API</a:t>
            </a:r>
            <a:r>
              <a:rPr lang="en-US" dirty="0"/>
              <a:t> with a JavaScript frontend, allowing users to view charts, monitor live prices, and explore AI-generated predictions in real time.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790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379670-1076-0DE7-71C6-4FDF6A041B99}"/>
              </a:ext>
            </a:extLst>
          </p:cNvPr>
          <p:cNvSpPr txBox="1"/>
          <p:nvPr/>
        </p:nvSpPr>
        <p:spPr>
          <a:xfrm>
            <a:off x="832104" y="658368"/>
            <a:ext cx="565099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dirty="0">
                <a:latin typeface="Arial Rounded MT Bold" panose="020F0704030504030204" pitchFamily="34" charset="0"/>
              </a:rPr>
              <a:t>PROBLEM STATEMENTS:</a:t>
            </a:r>
            <a:endParaRPr lang="en-IN" sz="2700" dirty="0">
              <a:latin typeface="Arial Rounded MT Bold" panose="020F07040305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148E49-684C-5BA1-7DAC-398CEF594034}"/>
              </a:ext>
            </a:extLst>
          </p:cNvPr>
          <p:cNvSpPr txBox="1"/>
          <p:nvPr/>
        </p:nvSpPr>
        <p:spPr>
          <a:xfrm>
            <a:off x="832104" y="1463040"/>
            <a:ext cx="1079906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Financial stock markets are highly volatile, making it difficult for investors to accurately predict future price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movements using traditional methods.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Most existing prediction systems depend heavily on continuous internet access and live APIs, which                         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can fail due to network issues, rate limits, or service interruptions.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Static forecasting models often struggle when stock data changes in scale across different companies, leading to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inaccurate predictions.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02B876-C1CA-6183-A1EA-256BAF543A66}"/>
              </a:ext>
            </a:extLst>
          </p:cNvPr>
          <p:cNvSpPr txBox="1"/>
          <p:nvPr/>
        </p:nvSpPr>
        <p:spPr>
          <a:xfrm>
            <a:off x="923544" y="4288536"/>
            <a:ext cx="100675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NIFTY AI Stock Prediction Dashboard aims to solve the challenge of unreliable and inaccurate stock forecasting by building a hybrid machine learning system that works with both offline historical data and live market updates. The project focuses on creating a robust, scalable, and interactive prediction platform that can continue functioning even when internet access is unstable, while using AI models and technical indicators to generate more reliable stock trend forecasts.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282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80AA5FA-396A-3FEC-2778-8E59D45076BE}"/>
              </a:ext>
            </a:extLst>
          </p:cNvPr>
          <p:cNvSpPr txBox="1"/>
          <p:nvPr/>
        </p:nvSpPr>
        <p:spPr>
          <a:xfrm>
            <a:off x="923544" y="347472"/>
            <a:ext cx="8613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WORK FLOWDIAGRAM:</a:t>
            </a:r>
            <a:endParaRPr lang="en-IN" sz="2400" dirty="0">
              <a:latin typeface="Arial Rounded MT Bold" panose="020F07040305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DBBFF70-5F10-F6E0-0103-38B636F63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519" y="973501"/>
            <a:ext cx="8820913" cy="422943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C2EEE8E-FE4E-9BBE-9949-81432F309A82}"/>
              </a:ext>
            </a:extLst>
          </p:cNvPr>
          <p:cNvSpPr txBox="1"/>
          <p:nvPr/>
        </p:nvSpPr>
        <p:spPr>
          <a:xfrm>
            <a:off x="1335024" y="5202936"/>
            <a:ext cx="8311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collects live and historical stock data from multiple sources for analysis.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is preprocessed, scaled, and analyzed using technical indicators and AI models like LSTM, GRU, ARIMA, and Prophet.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579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9FDAC6-9FC9-519D-42DA-E16CF5951A87}"/>
              </a:ext>
            </a:extLst>
          </p:cNvPr>
          <p:cNvSpPr txBox="1"/>
          <p:nvPr/>
        </p:nvSpPr>
        <p:spPr>
          <a:xfrm>
            <a:off x="813816" y="669861"/>
            <a:ext cx="575157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Arial Rounded MT Bold" panose="020F0704030504030204" pitchFamily="34" charset="0"/>
              </a:rPr>
              <a:t>METHODOLOGY:</a:t>
            </a:r>
            <a:endParaRPr lang="en-IN" sz="2500" dirty="0">
              <a:latin typeface="Arial Rounded MT Bold" panose="020F07040305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B91885-AAD2-FC89-F31E-3312CC0B6F70}"/>
              </a:ext>
            </a:extLst>
          </p:cNvPr>
          <p:cNvSpPr txBox="1"/>
          <p:nvPr/>
        </p:nvSpPr>
        <p:spPr>
          <a:xfrm>
            <a:off x="906780" y="1472381"/>
            <a:ext cx="1037844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data is collected from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sources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local SQLite database for offline historical data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andthe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yfinance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live feed for real-time updates.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data is cleaned by handling missing values, preparing sequences, and applying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MinMax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scaling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non-NIFTY stocks, the historical NIFTY data is adjusted using mathematical scaling so the model can work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for different tickers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predictions from all models are combined using an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approach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improves accuracy and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reduces the risk of relying on one model alone.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285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18ABB3-1E31-F444-B73D-5E511CF230E2}"/>
              </a:ext>
            </a:extLst>
          </p:cNvPr>
          <p:cNvSpPr txBox="1"/>
          <p:nvPr/>
        </p:nvSpPr>
        <p:spPr>
          <a:xfrm>
            <a:off x="715518" y="473702"/>
            <a:ext cx="6094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Tools and techniques:</a:t>
            </a:r>
            <a:endParaRPr lang="en-IN" sz="3000" dirty="0">
              <a:latin typeface="Arial Rounded MT Bold" panose="020F070403050403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8028804-2CF1-9F6E-8102-4C8C16F0B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518" y="1206097"/>
            <a:ext cx="1113739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Framework: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Pandas, NumPy (data handling)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Matplotlib, Plotly (visualization)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(ML models &amp; preprocessing)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TensorFlow /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(deep learning models)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Techniques: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(encoding, scaling, imputation)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imbalance using SMOTE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 approach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methods: Accuracy, Precision, Recall, F1-score, ROC Curve</a:t>
            </a:r>
          </a:p>
        </p:txBody>
      </p:sp>
    </p:spTree>
    <p:extLst>
      <p:ext uri="{BB962C8B-B14F-4D97-AF65-F5344CB8AC3E}">
        <p14:creationId xmlns:p14="http://schemas.microsoft.com/office/powerpoint/2010/main" val="1986793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6691A6-1590-4DB8-D584-27E6E3BDACD8}"/>
              </a:ext>
            </a:extLst>
          </p:cNvPr>
          <p:cNvSpPr txBox="1"/>
          <p:nvPr/>
        </p:nvSpPr>
        <p:spPr>
          <a:xfrm>
            <a:off x="523494" y="277321"/>
            <a:ext cx="6094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Implementation:</a:t>
            </a:r>
            <a:endParaRPr lang="en-IN" sz="3000" dirty="0">
              <a:latin typeface="Arial Rounded MT Bold" panose="020F07040305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FDB039-22B6-D68B-4C85-C2556C7E6625}"/>
              </a:ext>
            </a:extLst>
          </p:cNvPr>
          <p:cNvSpPr txBox="1"/>
          <p:nvPr/>
        </p:nvSpPr>
        <p:spPr>
          <a:xfrm>
            <a:off x="960120" y="932689"/>
            <a:ext cx="427939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Rounded MT Bold" panose="020F0704030504030204" pitchFamily="34" charset="0"/>
              </a:rPr>
              <a:t>Data Collection Code:                                </a:t>
            </a:r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yfinance</a:t>
            </a:r>
            <a:r>
              <a:rPr lang="en-IN" dirty="0"/>
              <a:t> as </a:t>
            </a:r>
            <a:r>
              <a:rPr lang="en-IN" dirty="0" err="1"/>
              <a:t>yf</a:t>
            </a:r>
            <a:endParaRPr lang="en-IN" dirty="0"/>
          </a:p>
          <a:p>
            <a:r>
              <a:rPr lang="en-IN" dirty="0"/>
              <a:t>import pandas as pd</a:t>
            </a:r>
          </a:p>
          <a:p>
            <a:endParaRPr lang="en-IN" dirty="0"/>
          </a:p>
          <a:p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yf.download</a:t>
            </a:r>
            <a:r>
              <a:rPr lang="en-IN" dirty="0"/>
              <a:t>("^NSEI", period="5y")</a:t>
            </a:r>
          </a:p>
          <a:p>
            <a:r>
              <a:rPr lang="en-IN" dirty="0"/>
              <a:t>data = </a:t>
            </a:r>
            <a:r>
              <a:rPr lang="en-IN" dirty="0" err="1"/>
              <a:t>df</a:t>
            </a:r>
            <a:r>
              <a:rPr lang="en-IN" dirty="0"/>
              <a:t>[["Close"]].</a:t>
            </a:r>
            <a:r>
              <a:rPr lang="en-IN" dirty="0" err="1"/>
              <a:t>dropna</a:t>
            </a:r>
            <a:r>
              <a:rPr lang="en-IN" dirty="0"/>
              <a:t>()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7BBAA2-2585-4001-8460-0B3BBA13BB0A}"/>
              </a:ext>
            </a:extLst>
          </p:cNvPr>
          <p:cNvSpPr txBox="1"/>
          <p:nvPr/>
        </p:nvSpPr>
        <p:spPr>
          <a:xfrm>
            <a:off x="6242304" y="665726"/>
            <a:ext cx="576376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Rounded MT Bold" panose="020F0704030504030204" pitchFamily="34" charset="0"/>
              </a:rPr>
              <a:t>Data Preprocessing and Model Code</a:t>
            </a:r>
          </a:p>
          <a:p>
            <a:endParaRPr lang="en-IN" dirty="0">
              <a:latin typeface="Arial Rounded MT Bold" panose="020F0704030504030204" pitchFamily="34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sklearn.preprocessing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MinMaxScaler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tensorflow.keras.models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Sequential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tensorflow.keras.layers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LSTM, Dense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scaler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MinMaxScaler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feature_range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=(0, 1))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scaled_data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scaler.fit_transform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y = [], []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range(60,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scaled_data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X.append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scaled_data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[i-60:i, 0])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y.append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scaled_data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0])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y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X.reshape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X.shape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X.shape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[1], 1))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5C7349-9659-21F6-9AB1-D5FB53CD8F9B}"/>
              </a:ext>
            </a:extLst>
          </p:cNvPr>
          <p:cNvSpPr txBox="1"/>
          <p:nvPr/>
        </p:nvSpPr>
        <p:spPr>
          <a:xfrm>
            <a:off x="513588" y="2964014"/>
            <a:ext cx="558241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Rounded MT Bold" panose="020F0704030504030204" pitchFamily="34" charset="0"/>
              </a:rPr>
              <a:t>Prediction and Display Code</a:t>
            </a:r>
          </a:p>
          <a:p>
            <a:r>
              <a:rPr lang="en-IN" dirty="0"/>
              <a:t>model = Sequential([</a:t>
            </a:r>
          </a:p>
          <a:p>
            <a:r>
              <a:rPr lang="en-IN" dirty="0"/>
              <a:t>    LSTM(64, </a:t>
            </a:r>
            <a:r>
              <a:rPr lang="en-IN" dirty="0" err="1"/>
              <a:t>return_sequences</a:t>
            </a:r>
            <a:r>
              <a:rPr lang="en-IN" dirty="0"/>
              <a:t>=True, </a:t>
            </a:r>
            <a:r>
              <a:rPr lang="en-IN" dirty="0" err="1"/>
              <a:t>input_shape</a:t>
            </a:r>
            <a:r>
              <a:rPr lang="en-IN" dirty="0"/>
              <a:t>=(60, 1)),</a:t>
            </a:r>
          </a:p>
          <a:p>
            <a:r>
              <a:rPr lang="en-IN" dirty="0"/>
              <a:t>    LSTM(64),</a:t>
            </a:r>
          </a:p>
          <a:p>
            <a:r>
              <a:rPr lang="en-IN" dirty="0"/>
              <a:t>    Dense(1)</a:t>
            </a:r>
          </a:p>
          <a:p>
            <a:r>
              <a:rPr lang="en-IN" dirty="0"/>
              <a:t>])</a:t>
            </a:r>
            <a:r>
              <a:rPr lang="en-IN" dirty="0" err="1"/>
              <a:t>model.compile</a:t>
            </a:r>
            <a:r>
              <a:rPr lang="en-IN" dirty="0"/>
              <a:t>(optimizer="</a:t>
            </a:r>
            <a:r>
              <a:rPr lang="en-IN" dirty="0" err="1"/>
              <a:t>adam</a:t>
            </a:r>
            <a:r>
              <a:rPr lang="en-IN" dirty="0"/>
              <a:t>", loss="</a:t>
            </a:r>
            <a:r>
              <a:rPr lang="en-IN" dirty="0" err="1"/>
              <a:t>mse</a:t>
            </a:r>
            <a:r>
              <a:rPr lang="en-IN" dirty="0"/>
              <a:t>")</a:t>
            </a:r>
          </a:p>
          <a:p>
            <a:r>
              <a:rPr lang="en-IN" dirty="0" err="1"/>
              <a:t>model.fit</a:t>
            </a:r>
            <a:r>
              <a:rPr lang="en-IN" dirty="0"/>
              <a:t>(X, y, epochs=10, </a:t>
            </a:r>
            <a:r>
              <a:rPr lang="en-IN" dirty="0" err="1"/>
              <a:t>batch_size</a:t>
            </a:r>
            <a:r>
              <a:rPr lang="en-IN" dirty="0"/>
              <a:t>=32)</a:t>
            </a:r>
          </a:p>
          <a:p>
            <a:r>
              <a:rPr lang="en-IN" dirty="0"/>
              <a:t>pred = </a:t>
            </a:r>
            <a:r>
              <a:rPr lang="en-IN" dirty="0" err="1"/>
              <a:t>model.predict</a:t>
            </a:r>
            <a:r>
              <a:rPr lang="en-IN" dirty="0"/>
              <a:t>(X)</a:t>
            </a:r>
          </a:p>
          <a:p>
            <a:r>
              <a:rPr lang="en-IN" dirty="0"/>
              <a:t>pred = </a:t>
            </a:r>
            <a:r>
              <a:rPr lang="en-IN" dirty="0" err="1"/>
              <a:t>scaler.inverse_transform</a:t>
            </a:r>
            <a:r>
              <a:rPr lang="en-IN" dirty="0"/>
              <a:t>(pred)</a:t>
            </a:r>
          </a:p>
          <a:p>
            <a:r>
              <a:rPr lang="en-IN" dirty="0"/>
              <a:t>import </a:t>
            </a:r>
            <a:r>
              <a:rPr lang="en-IN" dirty="0" err="1"/>
              <a:t>streamlit</a:t>
            </a:r>
            <a:r>
              <a:rPr lang="en-IN" dirty="0"/>
              <a:t> as st</a:t>
            </a:r>
          </a:p>
          <a:p>
            <a:r>
              <a:rPr lang="en-IN" dirty="0" err="1"/>
              <a:t>st.write</a:t>
            </a:r>
            <a:r>
              <a:rPr lang="en-IN" dirty="0"/>
              <a:t>("Predicted Stock Prices:", pred)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2889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DDB950-C5A0-E3A8-6BD8-33F4057EF870}"/>
              </a:ext>
            </a:extLst>
          </p:cNvPr>
          <p:cNvSpPr txBox="1"/>
          <p:nvPr/>
        </p:nvSpPr>
        <p:spPr>
          <a:xfrm>
            <a:off x="1033272" y="585216"/>
            <a:ext cx="45628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 Rounded MT Bold" panose="020F0704030504030204" pitchFamily="34" charset="0"/>
              </a:rPr>
              <a:t>RESULT:</a:t>
            </a:r>
            <a:endParaRPr lang="en-IN" sz="3000" dirty="0">
              <a:latin typeface="Arial Rounded MT Bold" panose="020F070403050403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2A2BEA40-3A17-E0D0-9B4B-CAAE9D3EB8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288536" cy="4288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A4680B3F-5F7B-132B-AD26-CD54601917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BBD44B-D468-5336-4ED5-BB0E2411D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15" y="1584269"/>
            <a:ext cx="5959485" cy="40990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E923E3-C601-0456-D451-AF8271C3DF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870471"/>
            <a:ext cx="5807085" cy="35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283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DBD082-6EDB-00BC-F680-A621009A5C1E}"/>
              </a:ext>
            </a:extLst>
          </p:cNvPr>
          <p:cNvSpPr txBox="1"/>
          <p:nvPr/>
        </p:nvSpPr>
        <p:spPr>
          <a:xfrm>
            <a:off x="834390" y="583430"/>
            <a:ext cx="6094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Future scope:</a:t>
            </a:r>
            <a:endParaRPr lang="en-IN" sz="3000" dirty="0">
              <a:latin typeface="Arial Rounded MT Bold" panose="020F07040305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C9A52A-E663-73ED-AD75-C1F83348D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831" y="1443840"/>
            <a:ext cx="1046683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can be expanded to include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stock indices and companies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such as Bank Nifty, Sensex, Nasdaq, and other global markets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AI models like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Transformer-based forecasting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be added to improve prediction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enhanced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from news, social media, and financial reports to capture market behavior better.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app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be developed so users can view live predictions, alerts, and market insights on the go.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can be upgraded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deployment, real-time notifications, and portfolio management features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better scalability and usefulness.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55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7131DA-E04C-BD85-5E75-14FB566D362A}"/>
              </a:ext>
            </a:extLst>
          </p:cNvPr>
          <p:cNvSpPr txBox="1"/>
          <p:nvPr/>
        </p:nvSpPr>
        <p:spPr>
          <a:xfrm>
            <a:off x="932688" y="777240"/>
            <a:ext cx="51633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 Rounded MT Bold" panose="020F0704030504030204" pitchFamily="34" charset="0"/>
              </a:rPr>
              <a:t>CONCLUSION:</a:t>
            </a:r>
            <a:endParaRPr lang="en-IN" sz="3000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BA8B01-BE1D-AEA0-A638-9BBF8CC799D9}"/>
              </a:ext>
            </a:extLst>
          </p:cNvPr>
          <p:cNvSpPr txBox="1"/>
          <p:nvPr/>
        </p:nvSpPr>
        <p:spPr>
          <a:xfrm>
            <a:off x="932688" y="1477542"/>
            <a:ext cx="962863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AI Stock Prediction Dashboard is a robust and intelligent financial forecasting system that combines historical market data, live price updates, and advanced AI models to generate reliable stock predictions. By using a hybrid offline-online architecture, the project ensures continuous performance even when internet connectivity is unstable.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integrates techniques such as data preprocessing, dynamic scaling, technical indicators, and ensemble learning to improve prediction quality. Its dual interface through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Flask makes it interactive, user-friendly, and suitable for both technical analysis and real-time decision support.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this project demonstrates how machine learning and financial technology can work together to build an effective stock prediction platform. It provides a strong foundation for future enhancements such as sentiment analysis, mobile access, and cloud deployment.</a:t>
            </a: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099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1089</Words>
  <Application>Microsoft Office PowerPoint</Application>
  <PresentationFormat>Widescreen</PresentationFormat>
  <Paragraphs>107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Rounded MT Bold</vt:lpstr>
      <vt:lpstr>Calibri</vt:lpstr>
      <vt:lpstr>Calibri Light</vt:lpstr>
      <vt:lpstr>Montserrat</vt:lpstr>
      <vt:lpstr>Times New Roman</vt:lpstr>
      <vt:lpstr>Office Theme</vt:lpstr>
      <vt:lpstr>         ADA23CY202– MACHINE LEARNING  LABORATORY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Mohith Koyi</dc:creator>
  <cp:lastModifiedBy>Mohith Koyi</cp:lastModifiedBy>
  <cp:revision>1</cp:revision>
  <dcterms:created xsi:type="dcterms:W3CDTF">2026-04-20T12:19:01Z</dcterms:created>
  <dcterms:modified xsi:type="dcterms:W3CDTF">2026-04-20T13:53:20Z</dcterms:modified>
</cp:coreProperties>
</file>